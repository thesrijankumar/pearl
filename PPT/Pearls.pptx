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5"/>
  </p:notesMasterIdLst>
  <p:sldIdLst>
    <p:sldId id="256" r:id="rId2"/>
    <p:sldId id="497" r:id="rId3"/>
    <p:sldId id="499" r:id="rId4"/>
    <p:sldId id="507" r:id="rId5"/>
    <p:sldId id="500" r:id="rId6"/>
    <p:sldId id="501" r:id="rId7"/>
    <p:sldId id="502" r:id="rId8"/>
    <p:sldId id="503" r:id="rId9"/>
    <p:sldId id="508" r:id="rId10"/>
    <p:sldId id="506" r:id="rId11"/>
    <p:sldId id="510" r:id="rId12"/>
    <p:sldId id="509" r:id="rId13"/>
    <p:sldId id="269" r:id="rId14"/>
  </p:sldIdLst>
  <p:sldSz cx="9144000" cy="6858000" type="screen4x3"/>
  <p:notesSz cx="6761163" cy="99425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60AA"/>
    <a:srgbClr val="0066B3"/>
    <a:srgbClr val="E31E24"/>
    <a:srgbClr val="006CB4"/>
    <a:srgbClr val="E830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332" autoAdjust="0"/>
    <p:restoredTop sz="94660"/>
  </p:normalViewPr>
  <p:slideViewPr>
    <p:cSldViewPr showGuides="1">
      <p:cViewPr varScale="1">
        <p:scale>
          <a:sx n="84" d="100"/>
          <a:sy n="84" d="100"/>
        </p:scale>
        <p:origin x="936" y="72"/>
      </p:cViewPr>
      <p:guideLst>
        <p:guide orient="horz" pos="215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29837" cy="498852"/>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29761" y="0"/>
            <a:ext cx="2929837" cy="498852"/>
          </a:xfrm>
          <a:prstGeom prst="rect">
            <a:avLst/>
          </a:prstGeom>
        </p:spPr>
        <p:txBody>
          <a:bodyPr vert="horz" lIns="91440" tIns="45720" rIns="91440" bIns="45720" rtlCol="0"/>
          <a:lstStyle>
            <a:lvl1pPr algn="r">
              <a:defRPr sz="1200"/>
            </a:lvl1pPr>
          </a:lstStyle>
          <a:p>
            <a:fld id="{42668431-CD35-4516-818D-B41B2C4843CF}" type="datetimeFigureOut">
              <a:rPr lang="en-IN" smtClean="0"/>
              <a:t>30-04-2025</a:t>
            </a:fld>
            <a:endParaRPr lang="en-IN"/>
          </a:p>
        </p:txBody>
      </p:sp>
      <p:sp>
        <p:nvSpPr>
          <p:cNvPr id="4" name="Slide Image Placeholder 3"/>
          <p:cNvSpPr>
            <a:spLocks noGrp="1" noRot="1" noChangeAspect="1"/>
          </p:cNvSpPr>
          <p:nvPr>
            <p:ph type="sldImg" idx="2"/>
          </p:nvPr>
        </p:nvSpPr>
        <p:spPr>
          <a:xfrm>
            <a:off x="1144588" y="1243013"/>
            <a:ext cx="4471987" cy="3355975"/>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76117" y="4784835"/>
            <a:ext cx="5408930" cy="391486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9443662"/>
            <a:ext cx="2929837" cy="498851"/>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29761" y="9443662"/>
            <a:ext cx="2929837" cy="498851"/>
          </a:xfrm>
          <a:prstGeom prst="rect">
            <a:avLst/>
          </a:prstGeom>
        </p:spPr>
        <p:txBody>
          <a:bodyPr vert="horz" lIns="91440" tIns="45720" rIns="91440" bIns="45720" rtlCol="0" anchor="b"/>
          <a:lstStyle>
            <a:lvl1pPr algn="r">
              <a:defRPr sz="1200"/>
            </a:lvl1pPr>
          </a:lstStyle>
          <a:p>
            <a:fld id="{DAB949B3-C4AB-4FB2-8B24-B07A558BD59F}"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2</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3</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4</a:t>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5</a:t>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6</a:t>
            </a:fld>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7</a:t>
            </a:fld>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8</a:t>
            </a:fld>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9</a:t>
            </a:fld>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10</a:t>
            </a:fld>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Courses replaced with New Programmes</a:t>
            </a:r>
            <a:endParaRPr lang="en-IN" dirty="0"/>
          </a:p>
        </p:txBody>
      </p:sp>
      <p:sp>
        <p:nvSpPr>
          <p:cNvPr id="4" name="Slide Number Placeholder 3"/>
          <p:cNvSpPr>
            <a:spLocks noGrp="1"/>
          </p:cNvSpPr>
          <p:nvPr>
            <p:ph type="sldNum" sz="quarter" idx="5"/>
          </p:nvPr>
        </p:nvSpPr>
        <p:spPr/>
        <p:txBody>
          <a:bodyPr/>
          <a:lstStyle/>
          <a:p>
            <a:fld id="{DAB949B3-C4AB-4FB2-8B24-B07A558BD59F}" type="slidenum">
              <a:rPr lang="en-IN" smtClean="0"/>
              <a:t>12</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4AA89A1-F17A-4D3D-AC08-D16056C16514}"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F4AA89A1-F17A-4D3D-AC08-D16056C16514}"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F4AA89A1-F17A-4D3D-AC08-D16056C16514}" type="datetimeFigureOut">
              <a:rPr lang="en-IN" smtClean="0"/>
              <a:t>30-04-2025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F4AA89A1-F17A-4D3D-AC08-D16056C16514}" type="datetimeFigureOut">
              <a:rPr lang="en-IN" smtClean="0"/>
              <a:t>30-04-2025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4AA89A1-F17A-4D3D-AC08-D16056C16514}" type="datetimeFigureOut">
              <a:rPr lang="en-IN" smtClean="0"/>
              <a:t>30-04-2025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4AA89A1-F17A-4D3D-AC08-D16056C16514}" type="datetimeFigureOut">
              <a:rPr lang="en-IN" smtClean="0"/>
              <a:t>30-04-2025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F4AA89A1-F17A-4D3D-AC08-D16056C16514}" type="datetimeFigureOut">
              <a:rPr lang="en-IN" smtClean="0"/>
              <a:t>30-04-2025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421C46D-3F04-4F73-BF36-E6D9DA5AE143}" type="slidenum">
              <a:rPr lang="en-IN" smtClean="0"/>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4AA89A1-F17A-4D3D-AC08-D16056C16514}" type="datetimeFigureOut">
              <a:rPr lang="en-IN" smtClean="0"/>
              <a:t>30-04-2025</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421C46D-3F04-4F73-BF36-E6D9DA5AE143}" type="slidenum">
              <a:rPr lang="en-IN" smtClean="0"/>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PPT Admission Drive 2021-22-final-2_Page_01.jpg"/>
          <p:cNvPicPr>
            <a:picLocks noChangeAspect="1"/>
          </p:cNvPicPr>
          <p:nvPr/>
        </p:nvPicPr>
        <p:blipFill>
          <a:blip r:embed="rId2"/>
          <a:stretch>
            <a:fillRect/>
          </a:stretch>
        </p:blipFill>
        <p:spPr>
          <a:xfrm>
            <a:off x="0" y="0"/>
            <a:ext cx="9144000" cy="6850383"/>
          </a:xfrm>
          <a:prstGeom prst="rect">
            <a:avLst/>
          </a:prstGeom>
        </p:spPr>
      </p:pic>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54260" y="-27384"/>
            <a:ext cx="9180512" cy="6885384"/>
          </a:xfrm>
        </p:spPr>
      </p:pic>
      <p:cxnSp>
        <p:nvCxnSpPr>
          <p:cNvPr id="11" name="Straight Connector 10"/>
          <p:cNvCxnSpPr/>
          <p:nvPr/>
        </p:nvCxnSpPr>
        <p:spPr>
          <a:xfrm>
            <a:off x="1520415" y="2060848"/>
            <a:ext cx="6306546"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Picture 11"/>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370382" y="150274"/>
            <a:ext cx="6396065" cy="920873"/>
          </a:xfrm>
          <a:prstGeom prst="rect">
            <a:avLst/>
          </a:prstGeom>
        </p:spPr>
      </p:pic>
      <p:sp>
        <p:nvSpPr>
          <p:cNvPr id="13" name="TextBox 12"/>
          <p:cNvSpPr txBox="1"/>
          <p:nvPr/>
        </p:nvSpPr>
        <p:spPr>
          <a:xfrm>
            <a:off x="236440" y="2219553"/>
            <a:ext cx="8784976" cy="830997"/>
          </a:xfrm>
          <a:prstGeom prst="rect">
            <a:avLst/>
          </a:prstGeom>
          <a:noFill/>
        </p:spPr>
        <p:txBody>
          <a:bodyPr wrap="square" rtlCol="0">
            <a:spAutoFit/>
          </a:bodyPr>
          <a:lstStyle/>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panose="020B0604020202020204"/>
              </a:rPr>
              <a:t>Second Year Project Synopsis</a:t>
            </a:r>
          </a:p>
          <a:p>
            <a:pPr lvl="0" algn="ctr">
              <a:buSzPct val="25000"/>
            </a:pPr>
            <a:r>
              <a:rPr lang="en-IN" sz="2400" b="1" dirty="0">
                <a:solidFill>
                  <a:srgbClr val="0070C0"/>
                </a:solidFill>
                <a:ea typeface="Cambria" panose="02040503050406030204" pitchFamily="18" charset="0"/>
                <a:cs typeface="Times New Roman" panose="02020603050405020304" pitchFamily="18" charset="0"/>
                <a:sym typeface="Arial" panose="020B0604020202020204"/>
              </a:rPr>
              <a:t>Submitted by</a:t>
            </a:r>
          </a:p>
        </p:txBody>
      </p:sp>
      <p:graphicFrame>
        <p:nvGraphicFramePr>
          <p:cNvPr id="2" name="Table 2"/>
          <p:cNvGraphicFramePr>
            <a:graphicFrameLocks noGrp="1"/>
          </p:cNvGraphicFramePr>
          <p:nvPr>
            <p:extLst>
              <p:ext uri="{D42A27DB-BD31-4B8C-83A1-F6EECF244321}">
                <p14:modId xmlns:p14="http://schemas.microsoft.com/office/powerpoint/2010/main" val="1857950772"/>
              </p:ext>
            </p:extLst>
          </p:nvPr>
        </p:nvGraphicFramePr>
        <p:xfrm>
          <a:off x="1907704" y="3086002"/>
          <a:ext cx="5858743" cy="1887825"/>
        </p:xfrm>
        <a:graphic>
          <a:graphicData uri="http://schemas.openxmlformats.org/drawingml/2006/table">
            <a:tbl>
              <a:tblPr firstRow="1" bandRow="1">
                <a:tableStyleId>{5C22544A-7EE6-4342-B048-85BDC9FD1C3A}</a:tableStyleId>
              </a:tblPr>
              <a:tblGrid>
                <a:gridCol w="2823586">
                  <a:extLst>
                    <a:ext uri="{9D8B030D-6E8A-4147-A177-3AD203B41FA5}">
                      <a16:colId xmlns:a16="http://schemas.microsoft.com/office/drawing/2014/main" val="20000"/>
                    </a:ext>
                  </a:extLst>
                </a:gridCol>
                <a:gridCol w="3035157">
                  <a:extLst>
                    <a:ext uri="{9D8B030D-6E8A-4147-A177-3AD203B41FA5}">
                      <a16:colId xmlns:a16="http://schemas.microsoft.com/office/drawing/2014/main" val="20001"/>
                    </a:ext>
                  </a:extLst>
                </a:gridCol>
              </a:tblGrid>
              <a:tr h="385435">
                <a:tc>
                  <a:txBody>
                    <a:bodyPr/>
                    <a:lstStyle/>
                    <a:p>
                      <a:pPr algn="ctr"/>
                      <a:r>
                        <a:rPr lang="en-US" dirty="0"/>
                        <a:t>ROLL</a:t>
                      </a:r>
                    </a:p>
                  </a:txBody>
                  <a:tcPr/>
                </a:tc>
                <a:tc>
                  <a:txBody>
                    <a:bodyPr/>
                    <a:lstStyle/>
                    <a:p>
                      <a:pPr algn="ctr"/>
                      <a:r>
                        <a:rPr lang="en-US" dirty="0"/>
                        <a:t>NAME</a:t>
                      </a:r>
                    </a:p>
                  </a:txBody>
                  <a:tcPr/>
                </a:tc>
                <a:extLst>
                  <a:ext uri="{0D108BD9-81ED-4DB2-BD59-A6C34878D82A}">
                    <a16:rowId xmlns:a16="http://schemas.microsoft.com/office/drawing/2014/main" val="10000"/>
                  </a:ext>
                </a:extLst>
              </a:tr>
              <a:tr h="385435">
                <a:tc>
                  <a:txBody>
                    <a:bodyPr/>
                    <a:lstStyle/>
                    <a:p>
                      <a:r>
                        <a:rPr lang="en-IN" altLang="en-US" dirty="0"/>
                        <a:t>2301010396</a:t>
                      </a:r>
                    </a:p>
                  </a:txBody>
                  <a:tcPr/>
                </a:tc>
                <a:tc>
                  <a:txBody>
                    <a:bodyPr/>
                    <a:lstStyle/>
                    <a:p>
                      <a:r>
                        <a:rPr lang="en-IN" altLang="en-US" dirty="0"/>
                        <a:t>Srijan Kumar</a:t>
                      </a:r>
                    </a:p>
                  </a:txBody>
                  <a:tcPr/>
                </a:tc>
                <a:extLst>
                  <a:ext uri="{0D108BD9-81ED-4DB2-BD59-A6C34878D82A}">
                    <a16:rowId xmlns:a16="http://schemas.microsoft.com/office/drawing/2014/main" val="10001"/>
                  </a:ext>
                </a:extLst>
              </a:tr>
              <a:tr h="364216">
                <a:tc>
                  <a:txBody>
                    <a:bodyPr/>
                    <a:lstStyle/>
                    <a:p>
                      <a:r>
                        <a:rPr lang="en-IN" altLang="en-US" dirty="0"/>
                        <a:t>2301010366</a:t>
                      </a:r>
                    </a:p>
                  </a:txBody>
                  <a:tcPr/>
                </a:tc>
                <a:tc>
                  <a:txBody>
                    <a:bodyPr/>
                    <a:lstStyle/>
                    <a:p>
                      <a:r>
                        <a:rPr lang="en-IN" altLang="en-US" dirty="0"/>
                        <a:t>Sachin Kumar</a:t>
                      </a:r>
                    </a:p>
                  </a:txBody>
                  <a:tcPr/>
                </a:tc>
                <a:extLst>
                  <a:ext uri="{0D108BD9-81ED-4DB2-BD59-A6C34878D82A}">
                    <a16:rowId xmlns:a16="http://schemas.microsoft.com/office/drawing/2014/main" val="10002"/>
                  </a:ext>
                </a:extLst>
              </a:tr>
              <a:tr h="142472">
                <a:tc>
                  <a:txBody>
                    <a:bodyPr/>
                    <a:lstStyle/>
                    <a:p>
                      <a:endParaRPr lang="en-IN" altLang="en-US" dirty="0"/>
                    </a:p>
                  </a:txBody>
                  <a:tcPr/>
                </a:tc>
                <a:tc>
                  <a:txBody>
                    <a:bodyPr/>
                    <a:lstStyle/>
                    <a:p>
                      <a:endParaRPr lang="en-IN" altLang="en-US" dirty="0"/>
                    </a:p>
                  </a:txBody>
                  <a:tcPr/>
                </a:tc>
                <a:extLst>
                  <a:ext uri="{0D108BD9-81ED-4DB2-BD59-A6C34878D82A}">
                    <a16:rowId xmlns:a16="http://schemas.microsoft.com/office/drawing/2014/main" val="10003"/>
                  </a:ext>
                </a:extLst>
              </a:tr>
              <a:tr h="385435">
                <a:tc>
                  <a:txBody>
                    <a:bodyPr/>
                    <a:lstStyle/>
                    <a:p>
                      <a:endParaRPr lang="en-IN" altLang="en-US" dirty="0"/>
                    </a:p>
                  </a:txBody>
                  <a:tcPr/>
                </a:tc>
                <a:tc>
                  <a:txBody>
                    <a:bodyPr/>
                    <a:lstStyle/>
                    <a:p>
                      <a:endParaRPr lang="en-IN" altLang="en-US" dirty="0"/>
                    </a:p>
                  </a:txBody>
                  <a:tcPr/>
                </a:tc>
                <a:extLst>
                  <a:ext uri="{0D108BD9-81ED-4DB2-BD59-A6C34878D82A}">
                    <a16:rowId xmlns:a16="http://schemas.microsoft.com/office/drawing/2014/main" val="10004"/>
                  </a:ext>
                </a:extLst>
              </a:tr>
            </a:tbl>
          </a:graphicData>
        </a:graphic>
      </p:graphicFrame>
      <p:sp>
        <p:nvSpPr>
          <p:cNvPr id="5" name="TextBox 4"/>
          <p:cNvSpPr txBox="1"/>
          <p:nvPr/>
        </p:nvSpPr>
        <p:spPr>
          <a:xfrm>
            <a:off x="2299287" y="1212054"/>
            <a:ext cx="4659282" cy="706755"/>
          </a:xfrm>
          <a:prstGeom prst="rect">
            <a:avLst/>
          </a:prstGeom>
          <a:noFill/>
        </p:spPr>
        <p:txBody>
          <a:bodyPr wrap="square">
            <a:spAutoFit/>
          </a:bodyPr>
          <a:lstStyle/>
          <a:p>
            <a:pPr lvl="0" algn="ctr">
              <a:buSzPct val="25000"/>
            </a:pPr>
            <a:r>
              <a:rPr lang="en-IN" sz="4000" b="1" dirty="0">
                <a:solidFill>
                  <a:schemeClr val="tx1">
                    <a:lumMod val="95000"/>
                    <a:lumOff val="5000"/>
                  </a:schemeClr>
                </a:solidFill>
                <a:ea typeface="Cambria" panose="02040503050406030204" pitchFamily="18" charset="0"/>
                <a:cs typeface="Times New Roman" panose="02020603050405020304" pitchFamily="18" charset="0"/>
                <a:sym typeface="Arial" panose="020B0604020202020204"/>
              </a:rPr>
              <a:t>Pearls</a:t>
            </a:r>
          </a:p>
        </p:txBody>
      </p:sp>
      <p:sp>
        <p:nvSpPr>
          <p:cNvPr id="8" name="TextBox 7"/>
          <p:cNvSpPr txBox="1"/>
          <p:nvPr/>
        </p:nvSpPr>
        <p:spPr>
          <a:xfrm>
            <a:off x="236440" y="5733256"/>
            <a:ext cx="8584032" cy="645160"/>
          </a:xfrm>
          <a:prstGeom prst="rect">
            <a:avLst/>
          </a:prstGeom>
          <a:noFill/>
        </p:spPr>
        <p:txBody>
          <a:bodyPr wrap="square">
            <a:spAutoFit/>
          </a:bodyPr>
          <a:lstStyle/>
          <a:p>
            <a:pPr lvl="0">
              <a:buSzPct val="25000"/>
            </a:pPr>
            <a:r>
              <a:rPr lang="en-IN" sz="1800" b="1" dirty="0">
                <a:solidFill>
                  <a:srgbClr val="0070C0"/>
                </a:solidFill>
                <a:ea typeface="Cambria" panose="02040503050406030204" pitchFamily="18" charset="0"/>
                <a:cs typeface="Times New Roman" panose="02020603050405020304" pitchFamily="18" charset="0"/>
                <a:sym typeface="Arial" panose="020B0604020202020204"/>
              </a:rPr>
              <a:t>Industry Mentor: Miss Pallavi Dhingra</a:t>
            </a:r>
          </a:p>
          <a:p>
            <a:pPr lvl="0">
              <a:buSzPct val="25000"/>
            </a:pPr>
            <a:r>
              <a:rPr lang="en-IN" b="1" dirty="0">
                <a:solidFill>
                  <a:srgbClr val="0070C0"/>
                </a:solidFill>
                <a:ea typeface="Cambria" panose="02040503050406030204" pitchFamily="18" charset="0"/>
                <a:cs typeface="Times New Roman" panose="02020603050405020304" pitchFamily="18" charset="0"/>
                <a:sym typeface="Arial" panose="020B0604020202020204"/>
              </a:rPr>
              <a:t>Faculty Mentor:</a:t>
            </a:r>
            <a:r>
              <a:rPr lang="en-IN" sz="1800" b="1" dirty="0">
                <a:solidFill>
                  <a:srgbClr val="0070C0"/>
                </a:solidFill>
                <a:ea typeface="Cambria" panose="02040503050406030204" pitchFamily="18" charset="0"/>
                <a:cs typeface="Times New Roman" panose="02020603050405020304" pitchFamily="18" charset="0"/>
                <a:sym typeface="Arial" panose="020B0604020202020204"/>
              </a:rPr>
              <a:t> </a:t>
            </a:r>
            <a:r>
              <a:rPr lang="en-US" b="1" dirty="0">
                <a:solidFill>
                  <a:srgbClr val="0070C0"/>
                </a:solidFill>
                <a:ea typeface="Cambria" panose="02040503050406030204" pitchFamily="18" charset="0"/>
                <a:cs typeface="Times New Roman" panose="02020603050405020304" pitchFamily="18" charset="0"/>
                <a:sym typeface="Arial" panose="020B0604020202020204"/>
              </a:rPr>
              <a:t>Dr. Preeti Rathi</a:t>
            </a:r>
            <a:endParaRPr lang="en-US" altLang="en-US" sz="1800" b="1" dirty="0">
              <a:solidFill>
                <a:srgbClr val="0070C0"/>
              </a:solidFill>
              <a:ea typeface="Cambria" panose="02040503050406030204" pitchFamily="18" charset="0"/>
              <a:cs typeface="Times New Roman" panose="02020603050405020304" pitchFamily="18" charset="0"/>
              <a:sym typeface="Arial" panose="020B0604020202020204"/>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15370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Overview</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323850" y="1386840"/>
            <a:ext cx="8542655" cy="3621405"/>
          </a:xfrm>
          <a:prstGeom prst="rect">
            <a:avLst/>
          </a:prstGeom>
          <a:noFill/>
        </p:spPr>
        <p:txBody>
          <a:bodyPr wrap="square" rtlCol="0">
            <a:noAutofit/>
          </a:bodyPr>
          <a:lstStyle/>
          <a:p>
            <a:r>
              <a:rPr lang="en-US" sz="2400" b="1" dirty="0"/>
              <a:t>Pearls</a:t>
            </a:r>
            <a:r>
              <a:rPr lang="en-US" sz="2400" dirty="0"/>
              <a:t> is a custom-built e-commerce jewelry store developed to meet the specific requirements of the client. The platform offers a complete online shopping experience, showcasing a wide range of elegant jewelry pieces and enabling seamless browsing, purchasing, and checkout.</a:t>
            </a:r>
            <a:endParaRPr lang="en-US" altLang="en-US" sz="2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27305"/>
            <a:ext cx="9180512" cy="6885384"/>
          </a:xfrm>
        </p:spPr>
      </p:pic>
      <p:sp>
        <p:nvSpPr>
          <p:cNvPr id="5" name="Rectangle 1"/>
          <p:cNvSpPr>
            <a:spLocks noChangeArrowheads="1"/>
          </p:cNvSpPr>
          <p:nvPr/>
        </p:nvSpPr>
        <p:spPr bwMode="auto">
          <a:xfrm>
            <a:off x="179512" y="117045"/>
            <a:ext cx="4550156"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lvl="0">
              <a:buSzPct val="25000"/>
            </a:pPr>
            <a:r>
              <a:rPr lang="en-US" sz="4400" dirty="0">
                <a:solidFill>
                  <a:prstClr val="black"/>
                </a:solidFill>
                <a:latin typeface="Calibri" panose="020F0502020204030204"/>
                <a:ea typeface="+mj-ea"/>
                <a:cs typeface="+mj-cs"/>
                <a:sym typeface="Arial" panose="020B0604020202020204"/>
              </a:rPr>
              <a:t>A</a:t>
            </a:r>
            <a:r>
              <a:rPr lang="en-IN" sz="4400" dirty="0">
                <a:solidFill>
                  <a:prstClr val="black"/>
                </a:solidFill>
                <a:latin typeface="Calibri" panose="020F0502020204030204"/>
                <a:ea typeface="+mj-ea"/>
                <a:cs typeface="+mj-cs"/>
                <a:sym typeface="Arial" panose="020B0604020202020204"/>
              </a:rPr>
              <a:t>bout the Problem</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2" name="TextBox 1"/>
          <p:cNvSpPr txBox="1"/>
          <p:nvPr/>
        </p:nvSpPr>
        <p:spPr>
          <a:xfrm>
            <a:off x="588645" y="1341120"/>
            <a:ext cx="7966075" cy="4273550"/>
          </a:xfrm>
          <a:prstGeom prst="rect">
            <a:avLst/>
          </a:prstGeom>
          <a:noFill/>
        </p:spPr>
        <p:txBody>
          <a:bodyPr wrap="square" rtlCol="0">
            <a:noAutofit/>
          </a:bodyPr>
          <a:lstStyle/>
          <a:p>
            <a:pPr>
              <a:buNone/>
            </a:pPr>
            <a:r>
              <a:rPr lang="en-US" sz="2400" dirty="0"/>
              <a:t>Traditional canteen systems rely heavily on manual ordering and delivery, often resulting in long queues, delays, food wastage, and operational inefficiencies. There is no real-time status update, and the system lacks data-driven insights for better inventory and staff planning.</a:t>
            </a:r>
          </a:p>
          <a:p>
            <a:r>
              <a:rPr lang="en-US" sz="2400" dirty="0"/>
              <a:t>Our project addresses these issues by digitizing the process, incorporating a backend-driven architecture, predictive analytics via ML, and an automated token system to ensure a smooth experience.</a:t>
            </a:r>
          </a:p>
          <a:p>
            <a:pPr indent="0">
              <a:buFont typeface="Arial" panose="020B0604020202020204" pitchFamily="34" charset="0"/>
              <a:buNone/>
            </a:pPr>
            <a:endParaRPr lang="en-US" alt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647426"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Problem Statement</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p:cNvSpPr txBox="1"/>
          <p:nvPr/>
        </p:nvSpPr>
        <p:spPr>
          <a:xfrm>
            <a:off x="683260" y="1294130"/>
            <a:ext cx="7527290" cy="5020310"/>
          </a:xfrm>
          <a:prstGeom prst="rect">
            <a:avLst/>
          </a:prstGeom>
          <a:noFill/>
        </p:spPr>
        <p:txBody>
          <a:bodyPr wrap="square">
            <a:noAutofit/>
          </a:bodyPr>
          <a:lstStyle/>
          <a:p>
            <a:r>
              <a:rPr lang="en-US" sz="2400" dirty="0"/>
              <a:t>-&gt; In an increasingly digital world, the client recognized the need to establish a strong online presence to remain competitive in the jewelry market.</a:t>
            </a:r>
          </a:p>
          <a:p>
            <a:r>
              <a:rPr lang="en-US" sz="2400" dirty="0"/>
              <a:t>-&gt; Despite offering high-quality products, the lack of an online platform limited their reach and sales potential.</a:t>
            </a:r>
          </a:p>
          <a:p>
            <a:r>
              <a:rPr lang="en-US" sz="2400" dirty="0"/>
              <a:t>-&gt; The client needed a dedicated e-commerce solution that would not only showcase their jewelry collection but also provide a seamless shopping experience for customers.</a:t>
            </a:r>
            <a:endParaRPr lang="en-US" alt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9512" y="151593"/>
            <a:ext cx="4392488"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Objective</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p:cNvSpPr txBox="1"/>
          <p:nvPr/>
        </p:nvSpPr>
        <p:spPr>
          <a:xfrm>
            <a:off x="741045" y="1484630"/>
            <a:ext cx="7662545" cy="4258310"/>
          </a:xfrm>
          <a:prstGeom prst="rect">
            <a:avLst/>
          </a:prstGeom>
          <a:noFill/>
        </p:spPr>
        <p:txBody>
          <a:bodyPr wrap="square">
            <a:noAutofit/>
          </a:bodyPr>
          <a:lstStyle/>
          <a:p>
            <a:r>
              <a:rPr lang="en-US" sz="2000" dirty="0"/>
              <a:t>The goal was to design and develop a fully functional online jewelry store that effectively represents the client's brand identity while enhancing their digital footprint. The platform was built to expand market reach and facilitate direct online sales. Key features include an interactive product catalog, secure payment gateway integration, and user authentication through login and registration functionalities.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6502" y="-25781"/>
            <a:ext cx="9180512" cy="6885384"/>
          </a:xfrm>
        </p:spPr>
      </p:pic>
      <p:sp>
        <p:nvSpPr>
          <p:cNvPr id="5" name="Rectangle 1"/>
          <p:cNvSpPr>
            <a:spLocks noChangeArrowheads="1"/>
          </p:cNvSpPr>
          <p:nvPr/>
        </p:nvSpPr>
        <p:spPr bwMode="auto">
          <a:xfrm>
            <a:off x="179512" y="151593"/>
            <a:ext cx="3155031"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Methodology</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p:cNvSpPr txBox="1"/>
          <p:nvPr/>
        </p:nvSpPr>
        <p:spPr>
          <a:xfrm>
            <a:off x="251460" y="1340485"/>
            <a:ext cx="8485505" cy="3832225"/>
          </a:xfrm>
          <a:prstGeom prst="rect">
            <a:avLst/>
          </a:prstGeom>
          <a:noFill/>
        </p:spPr>
        <p:txBody>
          <a:bodyPr wrap="square">
            <a:noAutofit/>
          </a:bodyPr>
          <a:lstStyle/>
          <a:p>
            <a:pPr>
              <a:buNone/>
            </a:pPr>
            <a:r>
              <a:rPr lang="en-US" sz="2400" dirty="0"/>
              <a:t>We followed the Software Development Life Cycle (SDLC), progressing through planning, analysis, design, implementation, and testing. This included gathering client requirements, designing intuitive interfaces, developing full-stack functionality and testing.</a:t>
            </a:r>
          </a:p>
          <a:p>
            <a:pPr>
              <a:buNone/>
            </a:pPr>
            <a:endParaRPr lang="en-US" sz="2400" dirty="0"/>
          </a:p>
          <a:p>
            <a:pPr>
              <a:buNone/>
            </a:pPr>
            <a:r>
              <a:rPr lang="en-IN" sz="2400" b="1" dirty="0"/>
              <a:t>Tools &amp; Technologies Used:</a:t>
            </a:r>
          </a:p>
          <a:p>
            <a:pPr>
              <a:buNone/>
            </a:pPr>
            <a:endParaRPr lang="en-IN" sz="2400" dirty="0"/>
          </a:p>
          <a:p>
            <a:pPr>
              <a:buFont typeface="Arial" panose="020B0604020202020204" pitchFamily="34" charset="0"/>
              <a:buChar char="•"/>
            </a:pPr>
            <a:r>
              <a:rPr lang="en-IN" sz="2400" b="1" dirty="0"/>
              <a:t>Frontend:</a:t>
            </a:r>
            <a:r>
              <a:rPr lang="en-IN" sz="2400" dirty="0"/>
              <a:t> React , Axios</a:t>
            </a:r>
          </a:p>
          <a:p>
            <a:pPr>
              <a:buFont typeface="Arial" panose="020B0604020202020204" pitchFamily="34" charset="0"/>
              <a:buChar char="•"/>
            </a:pPr>
            <a:r>
              <a:rPr lang="en-IN" sz="2400" b="1" dirty="0"/>
              <a:t>Backend:</a:t>
            </a:r>
            <a:r>
              <a:rPr lang="en-IN" sz="2400" dirty="0"/>
              <a:t> Express</a:t>
            </a:r>
          </a:p>
          <a:p>
            <a:pPr>
              <a:buFont typeface="Arial" panose="020B0604020202020204" pitchFamily="34" charset="0"/>
              <a:buChar char="•"/>
            </a:pPr>
            <a:r>
              <a:rPr lang="en-IN" sz="2400" b="1" dirty="0"/>
              <a:t>Database:</a:t>
            </a:r>
            <a:r>
              <a:rPr lang="en-IN" sz="2400" dirty="0"/>
              <a:t> MySQL </a:t>
            </a:r>
          </a:p>
          <a:p>
            <a:pPr>
              <a:buFont typeface="Arial" panose="020B0604020202020204" pitchFamily="34" charset="0"/>
              <a:buChar char="•"/>
            </a:pPr>
            <a:r>
              <a:rPr lang="en-IN" sz="2400" b="1" dirty="0"/>
              <a:t>Environment: </a:t>
            </a:r>
            <a:r>
              <a:rPr lang="en-IN" sz="2400" dirty="0"/>
              <a:t>Node.js</a:t>
            </a:r>
          </a:p>
          <a:p>
            <a:pPr>
              <a:buFont typeface="Arial" panose="020B0604020202020204" pitchFamily="34" charset="0"/>
              <a:buChar char="•"/>
            </a:pPr>
            <a:r>
              <a:rPr lang="en-IN" sz="2400" b="1" dirty="0"/>
              <a:t>Payment Gateway: </a:t>
            </a:r>
            <a:r>
              <a:rPr lang="en-IN" sz="2400" dirty="0" err="1"/>
              <a:t>Razorpay</a:t>
            </a:r>
            <a:r>
              <a:rPr lang="en-IN" sz="2400" dirty="0"/>
              <a:t> API</a:t>
            </a:r>
            <a:endParaRPr lang="en-US" alt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9370" y="-56515"/>
            <a:ext cx="9255125" cy="6941820"/>
          </a:xfrm>
        </p:spPr>
      </p:pic>
      <p:sp>
        <p:nvSpPr>
          <p:cNvPr id="5" name="Rectangle 1"/>
          <p:cNvSpPr>
            <a:spLocks noChangeArrowheads="1"/>
          </p:cNvSpPr>
          <p:nvPr/>
        </p:nvSpPr>
        <p:spPr bwMode="auto">
          <a:xfrm>
            <a:off x="177165" y="347345"/>
            <a:ext cx="5549900" cy="583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Methodology Flowchart</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pic>
        <p:nvPicPr>
          <p:cNvPr id="2" name="Picture 1" descr="Untitled Diagram [MConverter.eu]"/>
          <p:cNvPicPr>
            <a:picLocks noChangeAspect="1"/>
          </p:cNvPicPr>
          <p:nvPr/>
        </p:nvPicPr>
        <p:blipFill>
          <a:blip r:embed="rId5"/>
          <a:stretch>
            <a:fillRect/>
          </a:stretch>
        </p:blipFill>
        <p:spPr>
          <a:xfrm>
            <a:off x="2483485" y="1484630"/>
            <a:ext cx="2758440" cy="451675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77133" y="346645"/>
            <a:ext cx="8280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Project Timeline</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pic>
        <p:nvPicPr>
          <p:cNvPr id="12" name="Picture 11" descr="gantt_chart_jan_apr"/>
          <p:cNvPicPr>
            <a:picLocks noChangeAspect="1"/>
          </p:cNvPicPr>
          <p:nvPr/>
        </p:nvPicPr>
        <p:blipFill>
          <a:blip r:embed="rId5"/>
          <a:stretch>
            <a:fillRect/>
          </a:stretch>
        </p:blipFill>
        <p:spPr>
          <a:xfrm>
            <a:off x="179705" y="1557020"/>
            <a:ext cx="8908415" cy="365950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1" y="0"/>
            <a:ext cx="9180512" cy="6885384"/>
          </a:xfrm>
        </p:spPr>
      </p:pic>
      <p:sp>
        <p:nvSpPr>
          <p:cNvPr id="5" name="Rectangle 1"/>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Features</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3" name="TextBox 2"/>
          <p:cNvSpPr txBox="1"/>
          <p:nvPr/>
        </p:nvSpPr>
        <p:spPr>
          <a:xfrm>
            <a:off x="899592" y="1480231"/>
            <a:ext cx="7200800" cy="2985433"/>
          </a:xfrm>
          <a:prstGeom prst="rect">
            <a:avLst/>
          </a:prstGeom>
          <a:noFill/>
        </p:spPr>
        <p:txBody>
          <a:bodyPr wrap="square">
            <a:spAutoFit/>
          </a:bodyPr>
          <a:lstStyle/>
          <a:p>
            <a:r>
              <a:rPr lang="en-US" sz="2800" b="1" dirty="0"/>
              <a:t>Features:</a:t>
            </a:r>
          </a:p>
          <a:p>
            <a:pPr>
              <a:buFont typeface="Arial" panose="020B0604020202020204" pitchFamily="34" charset="0"/>
              <a:buChar char="•"/>
            </a:pPr>
            <a:endParaRPr lang="en-US" sz="2000" dirty="0"/>
          </a:p>
          <a:p>
            <a:pPr>
              <a:buFont typeface="Arial" panose="020B0604020202020204" pitchFamily="34" charset="0"/>
              <a:buChar char="•"/>
            </a:pPr>
            <a:r>
              <a:rPr lang="en-US" sz="2000" dirty="0"/>
              <a:t>Add product to the cart.</a:t>
            </a:r>
          </a:p>
          <a:p>
            <a:pPr>
              <a:buFont typeface="Arial" panose="020B0604020202020204" pitchFamily="34" charset="0"/>
              <a:buChar char="•"/>
            </a:pPr>
            <a:r>
              <a:rPr lang="en-US" sz="2000" dirty="0"/>
              <a:t>View a list of all available </a:t>
            </a:r>
            <a:r>
              <a:rPr lang="en-US" sz="2000" dirty="0" err="1"/>
              <a:t>jewellery</a:t>
            </a:r>
            <a:r>
              <a:rPr lang="en-US" sz="2000" dirty="0"/>
              <a:t> products.</a:t>
            </a:r>
          </a:p>
          <a:p>
            <a:pPr>
              <a:buFont typeface="Arial" panose="020B0604020202020204" pitchFamily="34" charset="0"/>
              <a:buChar char="•"/>
            </a:pPr>
            <a:r>
              <a:rPr lang="en-US" sz="2000" dirty="0"/>
              <a:t>Update </a:t>
            </a:r>
            <a:r>
              <a:rPr lang="en-US" sz="2000" dirty="0" err="1"/>
              <a:t>jewellery</a:t>
            </a:r>
            <a:r>
              <a:rPr lang="en-US" sz="2000" dirty="0"/>
              <a:t> products in the cart.</a:t>
            </a:r>
          </a:p>
          <a:p>
            <a:pPr>
              <a:buFont typeface="Arial" panose="020B0604020202020204" pitchFamily="34" charset="0"/>
              <a:buChar char="•"/>
            </a:pPr>
            <a:r>
              <a:rPr lang="en-US" sz="2000" dirty="0"/>
              <a:t>Delete products from cart.</a:t>
            </a:r>
          </a:p>
          <a:p>
            <a:pPr>
              <a:buFont typeface="Arial" panose="020B0604020202020204" pitchFamily="34" charset="0"/>
              <a:buChar char="•"/>
            </a:pPr>
            <a:r>
              <a:rPr lang="en-US" sz="2000" dirty="0"/>
              <a:t>Login and Registration</a:t>
            </a:r>
          </a:p>
          <a:p>
            <a:pPr>
              <a:buFont typeface="Arial" panose="020B0604020202020204" pitchFamily="34" charset="0"/>
              <a:buChar char="•"/>
            </a:pPr>
            <a:r>
              <a:rPr lang="en-US" sz="2000" dirty="0"/>
              <a:t>User can make payment using </a:t>
            </a:r>
            <a:r>
              <a:rPr lang="en-US" sz="2000" dirty="0" err="1"/>
              <a:t>Razorpay</a:t>
            </a:r>
            <a:r>
              <a:rPr lang="en-US" sz="2000" dirty="0"/>
              <a:t> API</a:t>
            </a:r>
          </a:p>
          <a:p>
            <a:pPr algn="just"/>
            <a:endParaRPr lang="en-US" altLang="en-US" sz="2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B4CB3-18A7-97BE-3822-EA1FDFC06C0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8AA08A3-F940-B1E2-D014-A17C314313A6}"/>
              </a:ext>
            </a:extLst>
          </p:cNvPr>
          <p:cNvSpPr>
            <a:spLocks noGrp="1"/>
          </p:cNvSpPr>
          <p:nvPr>
            <p:ph idx="1"/>
          </p:nvPr>
        </p:nvSpPr>
        <p:spPr/>
        <p:txBody>
          <a:bodyPr/>
          <a:lstStyle/>
          <a:p>
            <a:endParaRPr lang="en-IN"/>
          </a:p>
        </p:txBody>
      </p:sp>
      <p:pic>
        <p:nvPicPr>
          <p:cNvPr id="4" name="Content Placeholder 3">
            <a:extLst>
              <a:ext uri="{FF2B5EF4-FFF2-40B4-BE49-F238E27FC236}">
                <a16:creationId xmlns:a16="http://schemas.microsoft.com/office/drawing/2014/main" id="{C29C6C58-24F8-4C09-B25A-6F0EEF54EFC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a:prstGeom prst="rect">
            <a:avLst/>
          </a:prstGeom>
        </p:spPr>
      </p:pic>
      <p:pic>
        <p:nvPicPr>
          <p:cNvPr id="5" name="Picture 4">
            <a:extLst>
              <a:ext uri="{FF2B5EF4-FFF2-40B4-BE49-F238E27FC236}">
                <a16:creationId xmlns:a16="http://schemas.microsoft.com/office/drawing/2014/main" id="{F3972F14-52EB-71FB-7637-5F242BDC5F2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pic>
        <p:nvPicPr>
          <p:cNvPr id="6" name="Content Placeholder 3">
            <a:extLst>
              <a:ext uri="{FF2B5EF4-FFF2-40B4-BE49-F238E27FC236}">
                <a16:creationId xmlns:a16="http://schemas.microsoft.com/office/drawing/2014/main" id="{1016DF20-7B04-B636-7206-A9907934966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 y="0"/>
            <a:ext cx="9180512" cy="6885384"/>
          </a:xfrm>
          <a:prstGeom prst="rect">
            <a:avLst/>
          </a:prstGeom>
        </p:spPr>
      </p:pic>
      <p:sp>
        <p:nvSpPr>
          <p:cNvPr id="7" name="Rectangle 1">
            <a:extLst>
              <a:ext uri="{FF2B5EF4-FFF2-40B4-BE49-F238E27FC236}">
                <a16:creationId xmlns:a16="http://schemas.microsoft.com/office/drawing/2014/main" id="{789F59EA-4DFB-7ED6-182E-967E693E403B}"/>
              </a:ext>
            </a:extLst>
          </p:cNvPr>
          <p:cNvSpPr>
            <a:spLocks noChangeArrowheads="1"/>
          </p:cNvSpPr>
          <p:nvPr/>
        </p:nvSpPr>
        <p:spPr bwMode="auto">
          <a:xfrm>
            <a:off x="103414" y="298973"/>
            <a:ext cx="68448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Future Scope</a:t>
            </a:r>
            <a:endParaRPr lang="en-IN" sz="3200" b="1" dirty="0">
              <a:solidFill>
                <a:srgbClr val="E31E24"/>
              </a:solidFill>
              <a:cs typeface="Times New Roman" panose="02020603050405020304" pitchFamily="18" charset="0"/>
              <a:sym typeface="Arial" panose="020B0604020202020204"/>
            </a:endParaRPr>
          </a:p>
        </p:txBody>
      </p:sp>
      <p:cxnSp>
        <p:nvCxnSpPr>
          <p:cNvPr id="8" name="Straight Connector 7">
            <a:extLst>
              <a:ext uri="{FF2B5EF4-FFF2-40B4-BE49-F238E27FC236}">
                <a16:creationId xmlns:a16="http://schemas.microsoft.com/office/drawing/2014/main" id="{977434C8-8F89-62B7-1BC1-3DC21E8F5773}"/>
              </a:ext>
            </a:extLst>
          </p:cNvPr>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8B8D8F8-1983-E887-E170-96D465185EF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10" name="TextBox 9">
            <a:extLst>
              <a:ext uri="{FF2B5EF4-FFF2-40B4-BE49-F238E27FC236}">
                <a16:creationId xmlns:a16="http://schemas.microsoft.com/office/drawing/2014/main" id="{E9B6CE7D-5ABC-FB7B-E955-70F585C7925F}"/>
              </a:ext>
            </a:extLst>
          </p:cNvPr>
          <p:cNvSpPr txBox="1"/>
          <p:nvPr/>
        </p:nvSpPr>
        <p:spPr>
          <a:xfrm>
            <a:off x="179512" y="1293834"/>
            <a:ext cx="8784976" cy="372794"/>
          </a:xfrm>
          <a:prstGeom prst="rect">
            <a:avLst/>
          </a:prstGeom>
          <a:noFill/>
        </p:spPr>
        <p:txBody>
          <a:bodyPr wrap="square">
            <a:spAutoFit/>
          </a:bodyPr>
          <a:lstStyle/>
          <a:p>
            <a:pPr marL="0" marR="0" algn="just" fontAlgn="base">
              <a:lnSpc>
                <a:spcPct val="107000"/>
              </a:lnSpc>
              <a:spcBef>
                <a:spcPts val="0"/>
              </a:spcBef>
              <a:spcAft>
                <a:spcPts val="0"/>
              </a:spcAft>
            </a:pPr>
            <a:r>
              <a:rPr lang="en-US" sz="1800" kern="100" dirty="0">
                <a:solidFill>
                  <a:srgbClr val="000000"/>
                </a:solidFill>
                <a:effectLst/>
                <a:latin typeface="Verdana" panose="020B0604030504040204" pitchFamily="34" charset="0"/>
                <a:ea typeface="Times New Roman" panose="02020603050405020304" pitchFamily="18" charset="0"/>
                <a:cs typeface="Times New Roman" panose="02020603050405020304" pitchFamily="18" charset="0"/>
              </a:rPr>
              <a:t> </a:t>
            </a:r>
            <a:endParaRPr lang="en-US" sz="2800" kern="100" dirty="0">
              <a:effectLst/>
              <a:latin typeface="+mj-lt"/>
              <a:ea typeface="Calibri" panose="020F0502020204030204" pitchFamily="34" charset="0"/>
              <a:cs typeface="Times New Roman" panose="02020603050405020304" pitchFamily="18" charset="0"/>
            </a:endParaRPr>
          </a:p>
        </p:txBody>
      </p:sp>
      <p:sp>
        <p:nvSpPr>
          <p:cNvPr id="11" name="TextBox 10">
            <a:extLst>
              <a:ext uri="{FF2B5EF4-FFF2-40B4-BE49-F238E27FC236}">
                <a16:creationId xmlns:a16="http://schemas.microsoft.com/office/drawing/2014/main" id="{AC430D79-C89D-E4B7-9887-6A90A044DF10}"/>
              </a:ext>
            </a:extLst>
          </p:cNvPr>
          <p:cNvSpPr txBox="1"/>
          <p:nvPr/>
        </p:nvSpPr>
        <p:spPr>
          <a:xfrm>
            <a:off x="899592" y="1480231"/>
            <a:ext cx="7200800" cy="2369880"/>
          </a:xfrm>
          <a:prstGeom prst="rect">
            <a:avLst/>
          </a:prstGeom>
          <a:noFill/>
        </p:spPr>
        <p:txBody>
          <a:bodyPr wrap="square">
            <a:spAutoFit/>
          </a:bodyPr>
          <a:lstStyle/>
          <a:p>
            <a:r>
              <a:rPr lang="en-US" sz="2800" b="1" dirty="0"/>
              <a:t>Features to be added on futures:</a:t>
            </a:r>
          </a:p>
          <a:p>
            <a:pPr>
              <a:buFont typeface="Arial" panose="020B0604020202020204" pitchFamily="34" charset="0"/>
              <a:buChar char="•"/>
            </a:pPr>
            <a:endParaRPr lang="en-US" sz="2000" dirty="0"/>
          </a:p>
          <a:p>
            <a:pPr>
              <a:buFont typeface="Arial" panose="020B0604020202020204" pitchFamily="34" charset="0"/>
              <a:buChar char="•"/>
            </a:pPr>
            <a:r>
              <a:rPr lang="en-US" sz="2000" dirty="0"/>
              <a:t> Admin panel for easier controls.</a:t>
            </a:r>
          </a:p>
          <a:p>
            <a:pPr>
              <a:buFont typeface="Arial" panose="020B0604020202020204" pitchFamily="34" charset="0"/>
              <a:buChar char="•"/>
            </a:pPr>
            <a:r>
              <a:rPr lang="en-US" sz="2000" dirty="0"/>
              <a:t> Introducing festive offers and discounts automatically.</a:t>
            </a:r>
          </a:p>
          <a:p>
            <a:pPr>
              <a:buFont typeface="Arial" panose="020B0604020202020204" pitchFamily="34" charset="0"/>
              <a:buChar char="•"/>
            </a:pPr>
            <a:r>
              <a:rPr lang="en-US" sz="2000" dirty="0"/>
              <a:t> Admin can add, update, delete category and </a:t>
            </a:r>
            <a:r>
              <a:rPr lang="en-US" sz="2000" dirty="0" err="1"/>
              <a:t>jewelleries</a:t>
            </a:r>
            <a:r>
              <a:rPr lang="en-US" sz="2000" dirty="0"/>
              <a:t>.</a:t>
            </a:r>
          </a:p>
          <a:p>
            <a:pPr>
              <a:buFont typeface="Arial" panose="020B0604020202020204" pitchFamily="34" charset="0"/>
              <a:buChar char="•"/>
            </a:pPr>
            <a:r>
              <a:rPr lang="en-US" sz="2000" dirty="0"/>
              <a:t> Deployment of the store at a custom domain</a:t>
            </a:r>
          </a:p>
          <a:p>
            <a:pPr algn="just"/>
            <a:endParaRPr lang="en-US" altLang="en-US" sz="2000" dirty="0"/>
          </a:p>
        </p:txBody>
      </p:sp>
    </p:spTree>
    <p:extLst>
      <p:ext uri="{BB962C8B-B14F-4D97-AF65-F5344CB8AC3E}">
        <p14:creationId xmlns:p14="http://schemas.microsoft.com/office/powerpoint/2010/main" val="38761401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3" cstate="print">
            <a:extLst>
              <a:ext uri="{28A0092B-C50C-407E-A947-70E740481C1C}">
                <a14:useLocalDpi xmlns:a14="http://schemas.microsoft.com/office/drawing/2010/main" val="0"/>
              </a:ext>
            </a:extLst>
          </a:blip>
          <a:stretch>
            <a:fillRect/>
          </a:stretch>
        </p:blipFill>
        <p:spPr>
          <a:xfrm>
            <a:off x="-39329" y="22674"/>
            <a:ext cx="9556985" cy="6858000"/>
          </a:xfrm>
        </p:spPr>
      </p:pic>
      <p:sp>
        <p:nvSpPr>
          <p:cNvPr id="5" name="Rectangle 1"/>
          <p:cNvSpPr>
            <a:spLocks noChangeArrowheads="1"/>
          </p:cNvSpPr>
          <p:nvPr/>
        </p:nvSpPr>
        <p:spPr bwMode="auto">
          <a:xfrm>
            <a:off x="177133" y="346645"/>
            <a:ext cx="828092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a:buSzPct val="25000"/>
            </a:pPr>
            <a:r>
              <a:rPr lang="en-US" sz="3200" b="1" kern="100" dirty="0">
                <a:effectLst/>
                <a:latin typeface="Verdana" panose="020B0604030504040204" pitchFamily="34" charset="0"/>
                <a:ea typeface="Times New Roman" panose="02020603050405020304" pitchFamily="18" charset="0"/>
                <a:cs typeface="Times New Roman" panose="02020603050405020304" pitchFamily="18" charset="0"/>
              </a:rPr>
              <a:t>References</a:t>
            </a:r>
            <a:endParaRPr lang="en-IN" sz="3200" b="1" dirty="0">
              <a:solidFill>
                <a:srgbClr val="E31E24"/>
              </a:solidFill>
              <a:cs typeface="Times New Roman" panose="02020603050405020304" pitchFamily="18" charset="0"/>
              <a:sym typeface="Arial" panose="020B0604020202020204"/>
            </a:endParaRPr>
          </a:p>
        </p:txBody>
      </p:sp>
      <p:cxnSp>
        <p:nvCxnSpPr>
          <p:cNvPr id="7" name="Straight Connector 6"/>
          <p:cNvCxnSpPr/>
          <p:nvPr/>
        </p:nvCxnSpPr>
        <p:spPr>
          <a:xfrm>
            <a:off x="0" y="1061448"/>
            <a:ext cx="9180513" cy="0"/>
          </a:xfrm>
          <a:prstGeom prst="line">
            <a:avLst/>
          </a:prstGeom>
          <a:ln w="25400">
            <a:solidFill>
              <a:srgbClr val="0060AA"/>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6" name="TextBox 5"/>
          <p:cNvSpPr txBox="1"/>
          <p:nvPr/>
        </p:nvSpPr>
        <p:spPr>
          <a:xfrm>
            <a:off x="179512" y="1293834"/>
            <a:ext cx="8784976" cy="3118226"/>
          </a:xfrm>
          <a:prstGeom prst="rect">
            <a:avLst/>
          </a:prstGeom>
          <a:noFill/>
        </p:spPr>
        <p:txBody>
          <a:bodyPr wrap="square">
            <a:spAutoFit/>
          </a:bodyPr>
          <a:lstStyle/>
          <a:p>
            <a:pPr>
              <a:buFont typeface="Arial" panose="020B0604020202020204" pitchFamily="34" charset="0"/>
              <a:buChar char="•"/>
            </a:pPr>
            <a:r>
              <a:rPr lang="en-IN" sz="2800" dirty="0"/>
              <a:t>Node.js Official Documentation</a:t>
            </a:r>
          </a:p>
          <a:p>
            <a:pPr>
              <a:buFont typeface="Arial" panose="020B0604020202020204" pitchFamily="34" charset="0"/>
              <a:buChar char="•"/>
            </a:pPr>
            <a:r>
              <a:rPr lang="en-IN" sz="2800" dirty="0"/>
              <a:t>Express.js Guide</a:t>
            </a:r>
          </a:p>
          <a:p>
            <a:pPr>
              <a:buFont typeface="Arial" panose="020B0604020202020204" pitchFamily="34" charset="0"/>
              <a:buChar char="•"/>
            </a:pPr>
            <a:r>
              <a:rPr lang="en-IN" sz="2800" dirty="0"/>
              <a:t>MySQL Documentation</a:t>
            </a:r>
          </a:p>
          <a:p>
            <a:pPr>
              <a:buFont typeface="Arial" panose="020B0604020202020204" pitchFamily="34" charset="0"/>
              <a:buChar char="•"/>
            </a:pPr>
            <a:r>
              <a:rPr lang="en-IN" sz="2800" dirty="0"/>
              <a:t>React.js Official Site</a:t>
            </a:r>
          </a:p>
          <a:p>
            <a:pPr>
              <a:buFont typeface="Arial" panose="020B0604020202020204" pitchFamily="34" charset="0"/>
              <a:buChar char="•"/>
            </a:pPr>
            <a:r>
              <a:rPr lang="en-IN" sz="2800" dirty="0"/>
              <a:t>Stack Overflow Developer Community</a:t>
            </a:r>
          </a:p>
          <a:p>
            <a:pPr>
              <a:buFont typeface="Arial" panose="020B0604020202020204" pitchFamily="34" charset="0"/>
              <a:buChar char="•"/>
            </a:pPr>
            <a:r>
              <a:rPr lang="en-IN" sz="2800" dirty="0"/>
              <a:t>Chai aur code </a:t>
            </a:r>
            <a:r>
              <a:rPr lang="en-IN" sz="2800" dirty="0" err="1"/>
              <a:t>Youtube</a:t>
            </a:r>
            <a:r>
              <a:rPr lang="en-IN" sz="2800" dirty="0"/>
              <a:t> channel</a:t>
            </a:r>
          </a:p>
          <a:p>
            <a:pPr marL="0" marR="0" algn="just" fontAlgn="base">
              <a:lnSpc>
                <a:spcPct val="107000"/>
              </a:lnSpc>
              <a:spcBef>
                <a:spcPts val="0"/>
              </a:spcBef>
              <a:spcAft>
                <a:spcPts val="0"/>
              </a:spcAft>
            </a:pPr>
            <a:endParaRPr lang="en-US" sz="2800" kern="100" dirty="0">
              <a:effectLst/>
              <a:latin typeface="+mj-lt"/>
              <a:ea typeface="Calibri" panose="020F0502020204030204" pitchFamily="34"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0" y="0"/>
            <a:ext cx="9180512" cy="6858000"/>
          </a:xfrm>
        </p:spPr>
      </p:pic>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2008" y="6309320"/>
            <a:ext cx="2411760" cy="346691"/>
          </a:xfrm>
          <a:prstGeom prst="rect">
            <a:avLst/>
          </a:prstGeom>
        </p:spPr>
      </p:pic>
      <p:sp>
        <p:nvSpPr>
          <p:cNvPr id="2" name="TextBox 1"/>
          <p:cNvSpPr txBox="1"/>
          <p:nvPr/>
        </p:nvSpPr>
        <p:spPr>
          <a:xfrm>
            <a:off x="1835696" y="2708920"/>
            <a:ext cx="5651034" cy="1200329"/>
          </a:xfrm>
          <a:prstGeom prst="rect">
            <a:avLst/>
          </a:prstGeom>
          <a:noFill/>
        </p:spPr>
        <p:txBody>
          <a:bodyPr wrap="none" rtlCol="0">
            <a:spAutoFit/>
          </a:bodyPr>
          <a:lstStyle/>
          <a:p>
            <a:pPr algn="ctr"/>
            <a:r>
              <a:rPr lang="en-US" sz="7200" dirty="0">
                <a:solidFill>
                  <a:srgbClr val="0060AA"/>
                </a:solidFill>
                <a:latin typeface="Garamond" panose="02020404030301010803" pitchFamily="18" charset="0"/>
              </a:rPr>
              <a:t>THANK</a:t>
            </a:r>
            <a:r>
              <a:rPr lang="en-US" sz="7200" dirty="0">
                <a:latin typeface="Garamond" panose="02020404030301010803" pitchFamily="18" charset="0"/>
              </a:rPr>
              <a:t> </a:t>
            </a:r>
            <a:r>
              <a:rPr lang="en-US" sz="7200" dirty="0">
                <a:solidFill>
                  <a:srgbClr val="E31E24"/>
                </a:solidFill>
                <a:latin typeface="Garamond" panose="02020404030301010803" pitchFamily="18" charset="0"/>
              </a:rPr>
              <a:t>YOU</a:t>
            </a:r>
            <a:endParaRPr lang="en-IN" sz="7200" dirty="0">
              <a:latin typeface="Garamond" panose="02020404030301010803" pitchFamily="18" charset="0"/>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53</TotalTime>
  <Words>553</Words>
  <Application>Microsoft Office PowerPoint</Application>
  <PresentationFormat>On-screen Show (4:3)</PresentationFormat>
  <Paragraphs>87</Paragraphs>
  <Slides>13</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Cambria</vt:lpstr>
      <vt:lpstr>Garamond</vt:lpstr>
      <vt:lpstr>Times New Roman</vt:lpstr>
      <vt:lpstr>Verdana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Srijan Kumar</dc:creator>
  <cp:lastModifiedBy>Srijan Kumar 2301010396</cp:lastModifiedBy>
  <cp:revision>328</cp:revision>
  <cp:lastPrinted>2022-09-05T08:43:00Z</cp:lastPrinted>
  <dcterms:created xsi:type="dcterms:W3CDTF">2020-01-16T09:05:00Z</dcterms:created>
  <dcterms:modified xsi:type="dcterms:W3CDTF">2025-04-29T21:33:57Z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24F26D4D853C4D0692BBD0C42C674681_12</vt:lpwstr>
  </property>
  <property fmtid="{D5CDD505-2E9C-101B-9397-08002B2CF9AE}" pid="3" name="KSOProductBuildVer">
    <vt:lpwstr>1033-12.2.0.19805</vt:lpwstr>
  </property>
</Properties>
</file>